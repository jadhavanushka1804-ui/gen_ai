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Solar Power Plant CEO Comprehensive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100 MWp solar power plant demonstrated stable operational performance during July 2026, maintaining strong availability and safety performance. However, the plant experienced a generation shortfall of 800 MWh (5%) compared with the planned target due to inverter failures, grid interruptions, and module soiling losses.</a:t>
            </a:r>
          </a:p>
          <a:p>
            <a:pPr lvl="1">
              <a:defRPr sz="1600"/>
            </a:pPr>
            <a:r>
              <a:t>The plant achieved:</a:t>
            </a:r>
          </a:p>
          <a:p>
            <a:pPr lvl="1">
              <a:defRPr sz="1600"/>
            </a:pPr>
            <a:r>
              <a:t>Actual Generation: 15.2 GWh</a:t>
            </a:r>
          </a:p>
          <a:p>
            <a:pPr lvl="1">
              <a:defRPr sz="1600"/>
            </a:pPr>
            <a:r>
              <a:t>Target Generation: 16.0 GWh</a:t>
            </a:r>
          </a:p>
          <a:p>
            <a:pPr lvl="1">
              <a:defRPr sz="1600"/>
            </a:pPr>
            <a:r>
              <a:t>Generation Achievement: 95%</a:t>
            </a:r>
          </a:p>
          <a:p>
            <a:pPr lvl="1">
              <a:defRPr sz="1600"/>
            </a:pPr>
            <a:r>
              <a:t>Performance Ratio (PR): 81.7%</a:t>
            </a:r>
          </a:p>
          <a:p>
            <a:pPr lvl="1">
              <a:defRPr sz="1600"/>
            </a:pPr>
            <a:r>
              <a:t>Plant Availability: 99.3%</a:t>
            </a:r>
          </a:p>
          <a:p>
            <a:pPr lvl="1">
              <a:defRPr sz="1600"/>
            </a:pPr>
            <a:r>
              <a:t>Inverter Availability: 98.9%</a:t>
            </a:r>
          </a:p>
          <a:p>
            <a:pPr lvl="1">
              <a:defRPr sz="1600"/>
            </a:pPr>
            <a:r>
              <a:t>Revenue Generated: ₹7.65 Crore</a:t>
            </a:r>
          </a:p>
          <a:p>
            <a:pPr lvl="1">
              <a:defRPr sz="1600"/>
            </a:pPr>
            <a:r>
              <a:t>Operating Expenses: ₹48 Lakh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CEO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Monthly Performance Analysis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Performance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Energy Generation Target Achievement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Generation Deviation Analysis</a:t>
            </a:r>
          </a:p>
          <a:p>
            <a:pPr lvl="1">
              <a:defRPr sz="1600"/>
            </a:pPr>
            <a:r>
              <a:t>Root Cause Analysis</a:t>
            </a:r>
          </a:p>
          <a:p>
            <a:pPr lvl="1">
              <a:defRPr sz="1600"/>
            </a:pPr>
            <a:r>
              <a:t>Major Issue 1: Inverter Failure</a:t>
            </a:r>
          </a:p>
          <a:p>
            <a:pPr lvl="1">
              <a:defRPr sz="1600"/>
            </a:pPr>
            <a:r>
              <a:t>Equipment:</a:t>
            </a:r>
          </a:p>
          <a:p>
            <a:pPr lvl="1">
              <a:defRPr sz="1600"/>
            </a:pPr>
            <a:r>
              <a:t>INV-03</a:t>
            </a:r>
          </a:p>
          <a:p>
            <a:pPr lvl="1">
              <a:defRPr sz="1600"/>
            </a:pPr>
            <a:r>
              <a:t>INV-05</a:t>
            </a:r>
          </a:p>
          <a:p>
            <a:pPr lvl="1">
              <a:defRPr sz="1600"/>
            </a:pPr>
            <a:r>
              <a:t>Cause:</a:t>
            </a:r>
          </a:p>
          <a:p>
            <a:pPr lvl="1">
              <a:defRPr sz="1600"/>
            </a:pPr>
            <a:r>
              <a:t>IGBT module failure</a:t>
            </a:r>
          </a:p>
          <a:p>
            <a:pPr lvl="1">
              <a:defRPr sz="1600"/>
            </a:pPr>
            <a:r>
              <a:t>Cooling fan malfunction</a:t>
            </a:r>
          </a:p>
          <a:p>
            <a:pPr lvl="1">
              <a:defRPr sz="1600"/>
            </a:pPr>
            <a:r>
              <a:t>Impact: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Performance Ratio (PR) Improvement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 Trend</a:t>
            </a:r>
          </a:p>
          <a:p>
            <a:pPr lvl="1">
              <a:defRPr sz="1600"/>
            </a:pPr>
            <a:r>
              <a:t>PR Reduction Factors</a:t>
            </a:r>
          </a:p>
          <a:p>
            <a:pPr lvl="1">
              <a:defRPr sz="1600"/>
            </a:pPr>
            <a:r>
              <a:t>Recommended PR Improvement Actions</a:t>
            </a:r>
          </a:p>
          <a:p>
            <a:pPr lvl="1">
              <a:defRPr sz="1600"/>
            </a:pPr>
            <a:r>
              <a:t>Expected Future PR: 82.5%–83%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Revenue Impact Analysis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Financial Impact</a:t>
            </a:r>
          </a:p>
          <a:p>
            <a:pPr lvl="1">
              <a:defRPr sz="1600"/>
            </a:pPr>
            <a:r>
              <a:t>Revenue Loss Contributors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OPEX Optimization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Monthly Cost Analysis</a:t>
            </a:r>
          </a:p>
          <a:p>
            <a:pPr lvl="1">
              <a:defRPr sz="1600"/>
            </a:pPr>
            <a:r>
              <a:t>Observation</a:t>
            </a:r>
          </a:p>
          <a:p>
            <a:pPr lvl="1">
              <a:defRPr sz="1600"/>
            </a:pPr>
            <a:r>
              <a:t>Corrective maintenance cost is higher than preventive maintenance.</a:t>
            </a:r>
          </a:p>
          <a:p>
            <a:pPr lvl="1">
              <a:defRPr sz="1600"/>
            </a:pPr>
            <a:r>
              <a:t>Recommendation:</a:t>
            </a:r>
          </a:p>
          <a:p>
            <a:pPr lvl="1">
              <a:defRPr sz="1600"/>
            </a:pPr>
            <a:r>
              <a:t>Increase preventive maintenance activities to reduce emergency repair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ROI Performance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Investment Analysis</a:t>
            </a:r>
          </a:p>
          <a:p>
            <a:pPr lvl="1">
              <a:defRPr sz="1600"/>
            </a:pPr>
            <a:r>
              <a:t>ROI Gap Analysis</a:t>
            </a:r>
          </a:p>
          <a:p>
            <a:pPr lvl="1">
              <a:defRPr sz="1600"/>
            </a:pPr>
            <a:r>
              <a:t>ROI Improvement Plan</a:t>
            </a:r>
          </a:p>
          <a:p>
            <a:pPr lvl="1">
              <a:defRPr sz="1600"/>
            </a:pPr>
            <a:r>
              <a:t>Increase generation by reducing downtime.</a:t>
            </a:r>
          </a:p>
          <a:p>
            <a:pPr lvl="1">
              <a:defRPr sz="1600"/>
            </a:pPr>
            <a:r>
              <a:t>Improve PR by 1–2%.</a:t>
            </a:r>
          </a:p>
          <a:p>
            <a:pPr lvl="1">
              <a:defRPr sz="1600"/>
            </a:pPr>
            <a:r>
              <a:t>Reduce corrective maintenance expenses.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Operational Risk Assessment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Energy Loss Root Cause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Loss Waterfall</a:t>
            </a:r>
          </a:p>
          <a:p>
            <a:pPr lvl="1">
              <a:defRPr sz="1600"/>
            </a:pPr>
            <a:r>
              <a:t>Priority Improvement Area</a:t>
            </a:r>
          </a:p>
          <a:p>
            <a:pPr lvl="1">
              <a:defRPr sz="1600"/>
            </a:pPr>
            <a:r>
              <a:t>No.1 Priority: Reduce inverter downtime.</a:t>
            </a:r>
          </a:p>
          <a:p>
            <a:pPr lvl="1">
              <a:defRPr sz="1600"/>
            </a:pPr>
            <a:r>
              <a:t>Expected recovery:</a:t>
            </a:r>
          </a:p>
          <a:p>
            <a:pPr lvl="1">
              <a:defRPr sz="1600"/>
            </a:pPr>
            <a:r>
              <a:t>+110 MWh generation</a:t>
            </a:r>
          </a:p>
          <a:p>
            <a:pPr lvl="1">
              <a:defRPr sz="1600"/>
            </a:pPr>
            <a:r>
              <a:t>+₹5.6 Lakh monthly revenue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Safety &amp; Compliance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Safety Score</a:t>
            </a:r>
          </a:p>
          <a:p>
            <a:pPr lvl="1">
              <a:defRPr sz="1600"/>
            </a:pPr>
            <a:r>
              <a:t>98/100 – Excellent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Quarterly Improvement Strategy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Three-Month Action 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CEO Decision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CEO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Overall Plant Status: 🟢 STABLE WITH IMPROVEMENT OPPORTUNITIES</a:t>
            </a:r>
          </a:p>
          <a:p>
            <a:pPr lvl="1">
              <a:defRPr sz="1600"/>
            </a:pPr>
            <a:r>
              <a:t>Key Achievements</a:t>
            </a:r>
          </a:p>
          <a:p>
            <a:pPr lvl="1">
              <a:defRPr sz="1600"/>
            </a:pPr>
            <a:r>
              <a:t>✅ 99.3% plant availability achieved</a:t>
            </a:r>
            <a:br/>
            <a:r>
              <a:t>✅ Zero safety incidents</a:t>
            </a:r>
            <a:br/>
            <a:r>
              <a:t>✅ OPEX maintained within budget</a:t>
            </a:r>
            <a:br/>
            <a:r>
              <a:t>✅ Strong operational reliability</a:t>
            </a:r>
          </a:p>
          <a:p>
            <a:pPr lvl="1">
              <a:defRPr sz="1600"/>
            </a:pPr>
            <a:r>
              <a:t>Key Concerns</a:t>
            </a:r>
          </a:p>
          <a:p>
            <a:pPr lvl="1">
              <a:defRPr sz="1600"/>
            </a:pPr>
            <a:r>
              <a:t>⚠ Generation below target by 5%</a:t>
            </a:r>
            <a:br/>
            <a:r>
              <a:t>⚠ Inverter-related losses are highest contributor</a:t>
            </a:r>
            <a:br/>
            <a:r>
              <a:t>⚠ Corrective maintenance cost increasing</a:t>
            </a:r>
          </a:p>
          <a:p>
            <a:pPr lvl="1">
              <a:defRPr sz="1600"/>
            </a:pPr>
            <a:r>
              <a:t>Expected Next Quarter Improvement</a:t>
            </a:r>
          </a:p>
          <a:p>
            <a:pPr lvl="1">
              <a:defRPr sz="1600"/>
            </a:pPr>
            <a:r>
              <a:t>Management Priority:</a:t>
            </a:r>
            <a:br/>
            <a:r>
              <a:t>Focus on inverter reliability, predictive maintenance, and loss reduction to improve generation performance and maximize ROI.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